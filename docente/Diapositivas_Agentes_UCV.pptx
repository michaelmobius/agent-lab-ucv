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Cascadia Mono"/>
      <p:regular r:id="rId21"/>
      <p:bold r:id="rId22"/>
      <p:italic r:id="rId23"/>
      <p:boldItalic r:id="rId24"/>
    </p:embeddedFon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A7iXPB8VTy/BOtsrCnTTqopPJ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CascadiaMono-bold.fntdata"/><Relationship Id="rId21" Type="http://schemas.openxmlformats.org/officeDocument/2006/relationships/font" Target="fonts/CascadiaMono-regular.fntdata"/><Relationship Id="rId24" Type="http://schemas.openxmlformats.org/officeDocument/2006/relationships/font" Target="fonts/CascadiaMono-boldItalic.fntdata"/><Relationship Id="rId23" Type="http://schemas.openxmlformats.org/officeDocument/2006/relationships/font" Target="fonts/Cascadia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be67f6506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be67f650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/>
              <a:t>Hacerlo más emotivo y potente el mensaje.</a:t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f1056e8f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f9f1056e8f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/>
              <a:t>Hacerlo más emotivo y potente el mensaje.</a:t>
            </a:r>
            <a:endParaRPr/>
          </a:p>
        </p:txBody>
      </p:sp>
      <p:sp>
        <p:nvSpPr>
          <p:cNvPr id="126" name="Google Shape;126;g3f9f1056e8f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f1056e8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f1056e8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/>
              <a:t>Hacerlo más emotivo y potente el mensaje.</a:t>
            </a:r>
            <a:endParaRPr/>
          </a:p>
        </p:txBody>
      </p:sp>
      <p:sp>
        <p:nvSpPr>
          <p:cNvPr id="147" name="Google Shape;147;g3f9f1056e8f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9f1056e8f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9f1056e8f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/>
              <a:t>Hacerlo más emotivo y potente el mensaje.</a:t>
            </a:r>
            <a:endParaRPr/>
          </a:p>
        </p:txBody>
      </p:sp>
      <p:sp>
        <p:nvSpPr>
          <p:cNvPr id="176" name="Google Shape;176;g3f9f1056e8f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9f1056e8f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f9f1056e8f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/>
              <a:t>Hacerlo más emotivo y potente el mensaje.</a:t>
            </a:r>
            <a:endParaRPr/>
          </a:p>
        </p:txBody>
      </p:sp>
      <p:sp>
        <p:nvSpPr>
          <p:cNvPr id="193" name="Google Shape;193;g3f9f1056e8f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f1056e8f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9f1056e8f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/>
              <a:t>Hacerlo más emotivo y potente el mensaje.</a:t>
            </a:r>
            <a:endParaRPr/>
          </a:p>
        </p:txBody>
      </p:sp>
      <p:sp>
        <p:nvSpPr>
          <p:cNvPr id="214" name="Google Shape;214;g3f9f1056e8f_0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9f1056e8f_0_18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f9f1056e8f_0_18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9f1056e8f_0_18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9f1056e8f_0_20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9f1056e8f_0_20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9f1056e8f_0_20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9f1056e8f_0_215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9f1056e8f_0_215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9f1056e8f_0_215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9f1056e8f_0_23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f9f1056e8f_0_23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9f1056e8f_0_23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9f1056e8f_0_25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9f1056e8f_0_25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9f1056e8f_0_25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9f1056e8f_0_274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f9f1056e8f_0_274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9f1056e8f_0_274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9f1056e8f_0_28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f9f1056e8f_0_28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9f1056e8f_0_28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9f1056e8f_0_31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f9f1056e8f_0_31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9f1056e8f_0_31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bdf00b619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bdf00b619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gbdf00b619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CENTRAL">
  <p:cSld name="TÍTULO CENTRAL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/>
        </p:nvSpPr>
        <p:spPr>
          <a:xfrm>
            <a:off x="844551" y="2857500"/>
            <a:ext cx="1050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375" lIns="25375" spcFirstLastPara="1" rIns="25375" wrap="square" tIns="25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CDFF"/>
              </a:buClr>
              <a:buSzPts val="5600"/>
              <a:buFont typeface="Calibri"/>
              <a:buNone/>
            </a:pPr>
            <a:r>
              <a:t/>
            </a:r>
            <a:endParaRPr b="0" i="0" sz="5600" u="none" cap="none" strike="noStrike">
              <a:solidFill>
                <a:srgbClr val="1CCD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0"/>
          <p:cNvSpPr txBox="1"/>
          <p:nvPr>
            <p:ph type="title"/>
          </p:nvPr>
        </p:nvSpPr>
        <p:spPr>
          <a:xfrm>
            <a:off x="1255444" y="2857500"/>
            <a:ext cx="97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2949"/>
              </a:spcBef>
              <a:spcAft>
                <a:spcPts val="0"/>
              </a:spcAft>
              <a:buClr>
                <a:srgbClr val="1CCDFF"/>
              </a:buClr>
              <a:buSzPts val="4400"/>
              <a:buFont typeface="Calibri"/>
              <a:buNone/>
              <a:defRPr>
                <a:solidFill>
                  <a:srgbClr val="1CCD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/>
        </p:nvSpPr>
        <p:spPr>
          <a:xfrm>
            <a:off x="844551" y="2857500"/>
            <a:ext cx="1050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375" lIns="25375" spcFirstLastPara="1" rIns="25375" wrap="square" tIns="25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CDFF"/>
              </a:buClr>
              <a:buSzPts val="5600"/>
              <a:buFont typeface="Calibri"/>
              <a:buNone/>
            </a:pPr>
            <a:r>
              <a:t/>
            </a:r>
            <a:endParaRPr b="0" i="0" sz="5600" u="none" cap="none" strike="noStrike">
              <a:solidFill>
                <a:srgbClr val="1CCD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Fosbury">
  <p:cSld name="Portada Fosbur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cias">
  <p:cSld name="gracia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5987996" y="6540501"/>
            <a:ext cx="2097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bullets">
  <p:cSld name="lista bulle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/>
        </p:nvSpPr>
        <p:spPr>
          <a:xfrm>
            <a:off x="615950" y="-133350"/>
            <a:ext cx="51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375" lIns="25375" spcFirstLastPara="1" rIns="25375" wrap="square" tIns="25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1256040" y="1644276"/>
            <a:ext cx="7173300" cy="27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Arial"/>
              <a:buChar char="•"/>
              <a:defRPr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3"/>
          <p:cNvSpPr txBox="1"/>
          <p:nvPr/>
        </p:nvSpPr>
        <p:spPr>
          <a:xfrm>
            <a:off x="615950" y="-133350"/>
            <a:ext cx="51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375" lIns="25375" spcFirstLastPara="1" rIns="25375" wrap="square" tIns="25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7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7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p3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be67f6506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be67f65067_0_0"/>
          <p:cNvSpPr txBox="1"/>
          <p:nvPr/>
        </p:nvSpPr>
        <p:spPr>
          <a:xfrm>
            <a:off x="667400" y="1695450"/>
            <a:ext cx="80961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b="1" i="0" lang="es-ES" sz="5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Agentes de IA</a:t>
            </a:r>
            <a:endParaRPr b="1" i="0" sz="5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b="1" i="0" lang="es-ES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Michael Hurtado</a:t>
            </a:r>
            <a:endParaRPr b="1" i="0" sz="3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8155850" y="3638175"/>
            <a:ext cx="89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 EL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630400" y="1645025"/>
            <a:ext cx="289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24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Ruta de la sesión</a:t>
            </a:r>
            <a:endParaRPr b="1" i="0" sz="26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5"/>
          <p:cNvCxnSpPr/>
          <p:nvPr/>
        </p:nvCxnSpPr>
        <p:spPr>
          <a:xfrm>
            <a:off x="920555" y="2760305"/>
            <a:ext cx="0" cy="11886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"/>
          <p:cNvSpPr/>
          <p:nvPr/>
        </p:nvSpPr>
        <p:spPr>
          <a:xfrm>
            <a:off x="1121723" y="2760305"/>
            <a:ext cx="26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1 · Entender</a:t>
            </a:r>
            <a:endParaRPr b="0" i="0" sz="12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121723" y="3126065"/>
            <a:ext cx="2606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Diferenciar chatbot, automatización y agente.</a:t>
            </a:r>
            <a:endParaRPr b="0" i="0" sz="11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4303835" y="2760305"/>
            <a:ext cx="0" cy="1188600"/>
          </a:xfrm>
          <a:prstGeom prst="straightConnector1">
            <a:avLst/>
          </a:prstGeom>
          <a:noFill/>
          <a:ln cap="flat" cmpd="sng" w="5080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4505003" y="2760305"/>
            <a:ext cx="310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2 · Probar</a:t>
            </a:r>
            <a:endParaRPr b="0" i="0" sz="12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05003" y="3126065"/>
            <a:ext cx="3063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Observar a Gemini CLI actuando sobre archivos, Skills y MCP.</a:t>
            </a:r>
            <a:endParaRPr b="0" i="0" sz="11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8052875" y="2760305"/>
            <a:ext cx="0" cy="11886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5"/>
          <p:cNvSpPr/>
          <p:nvPr/>
        </p:nvSpPr>
        <p:spPr>
          <a:xfrm>
            <a:off x="8254043" y="2760305"/>
            <a:ext cx="301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3 · Diseñar</a:t>
            </a:r>
            <a:endParaRPr b="0" i="0" sz="12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254043" y="3126065"/>
            <a:ext cx="2971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Modificar una metodología y crear un agente para una tarea profesional.</a:t>
            </a:r>
            <a:endParaRPr b="0" i="0" sz="11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5"/>
          <p:cNvCxnSpPr/>
          <p:nvPr/>
        </p:nvCxnSpPr>
        <p:spPr>
          <a:xfrm>
            <a:off x="3938075" y="3354665"/>
            <a:ext cx="2742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" name="Google Shape;121;p5"/>
          <p:cNvCxnSpPr/>
          <p:nvPr/>
        </p:nvCxnSpPr>
        <p:spPr>
          <a:xfrm>
            <a:off x="7664255" y="3354665"/>
            <a:ext cx="2742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5"/>
          <p:cNvSpPr/>
          <p:nvPr/>
        </p:nvSpPr>
        <p:spPr>
          <a:xfrm>
            <a:off x="1098940" y="4616860"/>
            <a:ext cx="987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La meta no es “usar IA”.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La meta es entender cómo se compone una conducta agentiva.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f9f1056e8f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f9f1056e8f_0_12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9f1056e8f_0_12"/>
          <p:cNvSpPr txBox="1"/>
          <p:nvPr/>
        </p:nvSpPr>
        <p:spPr>
          <a:xfrm>
            <a:off x="8155850" y="3638175"/>
            <a:ext cx="89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 EL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9f1056e8f_0_12"/>
          <p:cNvSpPr txBox="1"/>
          <p:nvPr/>
        </p:nvSpPr>
        <p:spPr>
          <a:xfrm>
            <a:off x="630400" y="1645025"/>
            <a:ext cx="367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ES" sz="2400">
                <a:solidFill>
                  <a:srgbClr val="073763"/>
                </a:solidFill>
              </a:rPr>
              <a:t>Agencia</a:t>
            </a:r>
            <a:endParaRPr b="1" i="0" sz="26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3f9f1056e8f_0_12"/>
          <p:cNvCxnSpPr/>
          <p:nvPr/>
        </p:nvCxnSpPr>
        <p:spPr>
          <a:xfrm>
            <a:off x="920555" y="2760305"/>
            <a:ext cx="0" cy="11886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g3f9f1056e8f_0_12"/>
          <p:cNvSpPr/>
          <p:nvPr/>
        </p:nvSpPr>
        <p:spPr>
          <a:xfrm>
            <a:off x="1121723" y="2760305"/>
            <a:ext cx="26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lang="es-ES" sz="1280">
                <a:solidFill>
                  <a:srgbClr val="243B5C"/>
                </a:solidFill>
              </a:rPr>
              <a:t>A</a:t>
            </a: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s-ES" sz="1280">
                <a:solidFill>
                  <a:srgbClr val="243B5C"/>
                </a:solidFill>
              </a:rPr>
              <a:t>Chatbot</a:t>
            </a:r>
            <a:endParaRPr b="0" i="0" sz="12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9f1056e8f_0_12"/>
          <p:cNvSpPr/>
          <p:nvPr/>
        </p:nvSpPr>
        <p:spPr>
          <a:xfrm>
            <a:off x="1121723" y="3126065"/>
            <a:ext cx="2606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lang="es-ES" sz="1130">
                <a:solidFill>
                  <a:srgbClr val="111827"/>
                </a:solidFill>
              </a:rPr>
              <a:t>“Escribe un informe sobre una tendencia actual.”</a:t>
            </a:r>
            <a:endParaRPr sz="113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Font typeface="Arial"/>
              <a:buNone/>
            </a:pPr>
            <a:r>
              <a:t/>
            </a:r>
            <a:endParaRPr sz="113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lang="es-ES" sz="1130">
                <a:solidFill>
                  <a:srgbClr val="ED1C24"/>
                </a:solidFill>
              </a:rPr>
              <a:t>Responde, pero no verifica ni actúa.</a:t>
            </a:r>
            <a:endParaRPr sz="1130">
              <a:solidFill>
                <a:srgbClr val="ED1C24"/>
              </a:solidFill>
            </a:endParaRPr>
          </a:p>
        </p:txBody>
      </p:sp>
      <p:cxnSp>
        <p:nvCxnSpPr>
          <p:cNvPr id="135" name="Google Shape;135;g3f9f1056e8f_0_12"/>
          <p:cNvCxnSpPr/>
          <p:nvPr/>
        </p:nvCxnSpPr>
        <p:spPr>
          <a:xfrm>
            <a:off x="4303835" y="2760305"/>
            <a:ext cx="0" cy="1188600"/>
          </a:xfrm>
          <a:prstGeom prst="straightConnector1">
            <a:avLst/>
          </a:prstGeom>
          <a:noFill/>
          <a:ln cap="flat" cmpd="sng" w="5080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g3f9f1056e8f_0_12"/>
          <p:cNvSpPr/>
          <p:nvPr/>
        </p:nvSpPr>
        <p:spPr>
          <a:xfrm>
            <a:off x="4505003" y="2760305"/>
            <a:ext cx="310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lang="es-ES" sz="1280">
                <a:solidFill>
                  <a:srgbClr val="243B5C"/>
                </a:solidFill>
              </a:rPr>
              <a:t>B</a:t>
            </a: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s-ES" sz="1280">
                <a:solidFill>
                  <a:srgbClr val="243B5C"/>
                </a:solidFill>
              </a:rPr>
              <a:t>Automatización</a:t>
            </a:r>
            <a:endParaRPr b="0" i="0" sz="12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9f1056e8f_0_12"/>
          <p:cNvSpPr/>
          <p:nvPr/>
        </p:nvSpPr>
        <p:spPr>
          <a:xfrm>
            <a:off x="4505003" y="3126065"/>
            <a:ext cx="3063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lang="es-ES" sz="1130">
                <a:solidFill>
                  <a:srgbClr val="111827"/>
                </a:solidFill>
              </a:rPr>
              <a:t>“Cuando llegue un formulario, guarda un PDF y envía un correo.”</a:t>
            </a:r>
            <a:endParaRPr sz="113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Font typeface="Arial"/>
              <a:buNone/>
            </a:pPr>
            <a:r>
              <a:t/>
            </a:r>
            <a:endParaRPr sz="113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lang="es-ES" sz="1130">
                <a:solidFill>
                  <a:srgbClr val="ED1C24"/>
                </a:solidFill>
              </a:rPr>
              <a:t>Ejecuta pasos fijos.</a:t>
            </a:r>
            <a:endParaRPr sz="1130">
              <a:solidFill>
                <a:srgbClr val="ED1C24"/>
              </a:solidFill>
            </a:endParaRPr>
          </a:p>
        </p:txBody>
      </p:sp>
      <p:cxnSp>
        <p:nvCxnSpPr>
          <p:cNvPr id="138" name="Google Shape;138;g3f9f1056e8f_0_12"/>
          <p:cNvCxnSpPr/>
          <p:nvPr/>
        </p:nvCxnSpPr>
        <p:spPr>
          <a:xfrm>
            <a:off x="8052875" y="2760305"/>
            <a:ext cx="0" cy="11886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g3f9f1056e8f_0_12"/>
          <p:cNvSpPr/>
          <p:nvPr/>
        </p:nvSpPr>
        <p:spPr>
          <a:xfrm>
            <a:off x="8254043" y="2760305"/>
            <a:ext cx="301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lang="es-ES" sz="1280">
                <a:solidFill>
                  <a:srgbClr val="243B5C"/>
                </a:solidFill>
              </a:rPr>
              <a:t>C</a:t>
            </a: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s-ES" sz="1280">
                <a:solidFill>
                  <a:srgbClr val="243B5C"/>
                </a:solidFill>
              </a:rPr>
              <a:t>Agente</a:t>
            </a:r>
            <a:endParaRPr b="0" i="0" sz="12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9f1056e8f_0_12"/>
          <p:cNvSpPr/>
          <p:nvPr/>
        </p:nvSpPr>
        <p:spPr>
          <a:xfrm>
            <a:off x="8254043" y="3126065"/>
            <a:ext cx="2971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lang="es-ES" sz="1130">
                <a:solidFill>
                  <a:srgbClr val="111827"/>
                </a:solidFill>
              </a:rPr>
              <a:t>“Investiga, compara fuentes, calcula y produce un informe con evidencia.”</a:t>
            </a:r>
            <a:endParaRPr sz="113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Font typeface="Arial"/>
              <a:buNone/>
            </a:pPr>
            <a:r>
              <a:t/>
            </a:r>
            <a:endParaRPr sz="113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lang="es-ES" sz="1130">
                <a:solidFill>
                  <a:srgbClr val="ED1C24"/>
                </a:solidFill>
              </a:rPr>
              <a:t>Decide qué acción sigue.</a:t>
            </a:r>
            <a:endParaRPr sz="1130">
              <a:solidFill>
                <a:srgbClr val="ED1C24"/>
              </a:solidFill>
            </a:endParaRPr>
          </a:p>
        </p:txBody>
      </p:sp>
      <p:cxnSp>
        <p:nvCxnSpPr>
          <p:cNvPr id="141" name="Google Shape;141;g3f9f1056e8f_0_12"/>
          <p:cNvCxnSpPr/>
          <p:nvPr/>
        </p:nvCxnSpPr>
        <p:spPr>
          <a:xfrm>
            <a:off x="3938075" y="3354665"/>
            <a:ext cx="2742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" name="Google Shape;142;g3f9f1056e8f_0_12"/>
          <p:cNvCxnSpPr/>
          <p:nvPr/>
        </p:nvCxnSpPr>
        <p:spPr>
          <a:xfrm>
            <a:off x="7664255" y="3354665"/>
            <a:ext cx="2742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g3f9f1056e8f_0_12"/>
          <p:cNvSpPr/>
          <p:nvPr/>
        </p:nvSpPr>
        <p:spPr>
          <a:xfrm>
            <a:off x="1098940" y="4616860"/>
            <a:ext cx="987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300"/>
              <a:buFont typeface="Arial"/>
              <a:buNone/>
            </a:pPr>
            <a:r>
              <a:rPr b="1" lang="es-ES" sz="2300">
                <a:solidFill>
                  <a:srgbClr val="243B5C"/>
                </a:solidFill>
              </a:rPr>
              <a:t>¿Quién decide el siguiente paso?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f9f1056e8f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f9f1056e8f_0_32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9f1056e8f_0_32"/>
          <p:cNvSpPr txBox="1"/>
          <p:nvPr/>
        </p:nvSpPr>
        <p:spPr>
          <a:xfrm>
            <a:off x="630400" y="1645025"/>
            <a:ext cx="486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ES" sz="2400">
                <a:solidFill>
                  <a:srgbClr val="073763"/>
                </a:solidFill>
              </a:rPr>
              <a:t>Tres formas de comportamiento</a:t>
            </a:r>
            <a:endParaRPr b="1" i="0" sz="26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f9f1056e8f_0_32"/>
          <p:cNvSpPr/>
          <p:nvPr/>
        </p:nvSpPr>
        <p:spPr>
          <a:xfrm>
            <a:off x="630390" y="5707485"/>
            <a:ext cx="987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300"/>
              <a:buFont typeface="Arial"/>
              <a:buNone/>
            </a:pPr>
            <a:r>
              <a:rPr b="1" lang="es-ES" sz="2300">
                <a:solidFill>
                  <a:srgbClr val="243B5C"/>
                </a:solidFill>
              </a:rPr>
              <a:t>La diferencia está en el grado de decisión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9f1056e8f_0_32"/>
          <p:cNvSpPr/>
          <p:nvPr/>
        </p:nvSpPr>
        <p:spPr>
          <a:xfrm>
            <a:off x="742217" y="2781300"/>
            <a:ext cx="2286000" cy="4755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50"/>
              <a:buFont typeface="Arial"/>
              <a:buNone/>
            </a:pPr>
            <a:r>
              <a:rPr b="1" i="0" lang="es-ES" sz="12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CHATBOT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9f1056e8f_0_32"/>
          <p:cNvSpPr/>
          <p:nvPr/>
        </p:nvSpPr>
        <p:spPr>
          <a:xfrm>
            <a:off x="879378" y="3558540"/>
            <a:ext cx="2011800" cy="38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pregunta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g3f9f1056e8f_0_32"/>
          <p:cNvCxnSpPr/>
          <p:nvPr/>
        </p:nvCxnSpPr>
        <p:spPr>
          <a:xfrm>
            <a:off x="1885218" y="3951732"/>
            <a:ext cx="0" cy="384000"/>
          </a:xfrm>
          <a:prstGeom prst="straightConnector1">
            <a:avLst/>
          </a:prstGeom>
          <a:noFill/>
          <a:ln cap="flat" cmpd="sng" w="17775">
            <a:solidFill>
              <a:srgbClr val="6E77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g3f9f1056e8f_0_32"/>
          <p:cNvSpPr/>
          <p:nvPr/>
        </p:nvSpPr>
        <p:spPr>
          <a:xfrm>
            <a:off x="879378" y="4335780"/>
            <a:ext cx="2011800" cy="38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respuesta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9f1056e8f_0_32"/>
          <p:cNvSpPr/>
          <p:nvPr/>
        </p:nvSpPr>
        <p:spPr>
          <a:xfrm>
            <a:off x="4674138" y="2781300"/>
            <a:ext cx="2469000" cy="4755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AUTOMATIZACIÓN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9f1056e8f_0_32"/>
          <p:cNvSpPr/>
          <p:nvPr/>
        </p:nvSpPr>
        <p:spPr>
          <a:xfrm>
            <a:off x="4875306" y="3421380"/>
            <a:ext cx="20574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paso 1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g3f9f1056e8f_0_32"/>
          <p:cNvCxnSpPr/>
          <p:nvPr/>
        </p:nvCxnSpPr>
        <p:spPr>
          <a:xfrm>
            <a:off x="5908578" y="3741420"/>
            <a:ext cx="0" cy="301800"/>
          </a:xfrm>
          <a:prstGeom prst="straightConnector1">
            <a:avLst/>
          </a:prstGeom>
          <a:noFill/>
          <a:ln cap="flat" cmpd="sng" w="15225">
            <a:solidFill>
              <a:srgbClr val="6E77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g3f9f1056e8f_0_32"/>
          <p:cNvSpPr/>
          <p:nvPr/>
        </p:nvSpPr>
        <p:spPr>
          <a:xfrm>
            <a:off x="4875306" y="4043172"/>
            <a:ext cx="20574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paso 2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g3f9f1056e8f_0_32"/>
          <p:cNvCxnSpPr/>
          <p:nvPr/>
        </p:nvCxnSpPr>
        <p:spPr>
          <a:xfrm>
            <a:off x="5908578" y="4363212"/>
            <a:ext cx="0" cy="301800"/>
          </a:xfrm>
          <a:prstGeom prst="straightConnector1">
            <a:avLst/>
          </a:prstGeom>
          <a:noFill/>
          <a:ln cap="flat" cmpd="sng" w="15225">
            <a:solidFill>
              <a:srgbClr val="6E77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g3f9f1056e8f_0_32"/>
          <p:cNvSpPr/>
          <p:nvPr/>
        </p:nvSpPr>
        <p:spPr>
          <a:xfrm>
            <a:off x="4875306" y="4664964"/>
            <a:ext cx="20574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paso 3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9f1056e8f_0_32"/>
          <p:cNvSpPr/>
          <p:nvPr/>
        </p:nvSpPr>
        <p:spPr>
          <a:xfrm>
            <a:off x="8926098" y="2781300"/>
            <a:ext cx="2011800" cy="475500"/>
          </a:xfrm>
          <a:prstGeom prst="roundRect">
            <a:avLst>
              <a:gd fmla="val 16667" name="adj"/>
            </a:avLst>
          </a:prstGeom>
          <a:solidFill>
            <a:srgbClr val="E6F3FA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50"/>
              <a:buFont typeface="Arial"/>
              <a:buNone/>
            </a:pPr>
            <a:r>
              <a:rPr b="1" i="0" lang="es-ES" sz="12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AGENTE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9f1056e8f_0_32"/>
          <p:cNvSpPr/>
          <p:nvPr/>
        </p:nvSpPr>
        <p:spPr>
          <a:xfrm>
            <a:off x="8926098" y="3403092"/>
            <a:ext cx="20118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g3f9f1056e8f_0_32"/>
          <p:cNvCxnSpPr/>
          <p:nvPr/>
        </p:nvCxnSpPr>
        <p:spPr>
          <a:xfrm>
            <a:off x="9931938" y="3723132"/>
            <a:ext cx="0" cy="292500"/>
          </a:xfrm>
          <a:prstGeom prst="straightConnector1">
            <a:avLst/>
          </a:prstGeom>
          <a:noFill/>
          <a:ln cap="flat" cmpd="sng" w="15225">
            <a:solidFill>
              <a:srgbClr val="6E77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" name="Google Shape;166;g3f9f1056e8f_0_32"/>
          <p:cNvSpPr/>
          <p:nvPr/>
        </p:nvSpPr>
        <p:spPr>
          <a:xfrm>
            <a:off x="8926098" y="4015740"/>
            <a:ext cx="20118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g3f9f1056e8f_0_32"/>
          <p:cNvCxnSpPr/>
          <p:nvPr/>
        </p:nvCxnSpPr>
        <p:spPr>
          <a:xfrm>
            <a:off x="9931938" y="4335780"/>
            <a:ext cx="0" cy="292500"/>
          </a:xfrm>
          <a:prstGeom prst="straightConnector1">
            <a:avLst/>
          </a:prstGeom>
          <a:noFill/>
          <a:ln cap="flat" cmpd="sng" w="15225">
            <a:solidFill>
              <a:srgbClr val="6E77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g3f9f1056e8f_0_32"/>
          <p:cNvSpPr/>
          <p:nvPr/>
        </p:nvSpPr>
        <p:spPr>
          <a:xfrm>
            <a:off x="8926098" y="4628388"/>
            <a:ext cx="20118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actúa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g3f9f1056e8f_0_32"/>
          <p:cNvCxnSpPr/>
          <p:nvPr/>
        </p:nvCxnSpPr>
        <p:spPr>
          <a:xfrm flipH="1">
            <a:off x="9200538" y="4948428"/>
            <a:ext cx="731400" cy="438900"/>
          </a:xfrm>
          <a:prstGeom prst="straightConnector1">
            <a:avLst/>
          </a:prstGeom>
          <a:noFill/>
          <a:ln cap="flat" cmpd="sng" w="15225">
            <a:solidFill>
              <a:srgbClr val="6E77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g3f9f1056e8f_0_32"/>
          <p:cNvCxnSpPr/>
          <p:nvPr/>
        </p:nvCxnSpPr>
        <p:spPr>
          <a:xfrm>
            <a:off x="9931938" y="4948428"/>
            <a:ext cx="731400" cy="438900"/>
          </a:xfrm>
          <a:prstGeom prst="straightConnector1">
            <a:avLst/>
          </a:prstGeom>
          <a:noFill/>
          <a:ln cap="flat" cmpd="sng" w="15225">
            <a:solidFill>
              <a:srgbClr val="6E77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g3f9f1056e8f_0_32"/>
          <p:cNvSpPr/>
          <p:nvPr/>
        </p:nvSpPr>
        <p:spPr>
          <a:xfrm>
            <a:off x="8514618" y="5387340"/>
            <a:ext cx="13260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observa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9f1056e8f_0_32"/>
          <p:cNvSpPr/>
          <p:nvPr/>
        </p:nvSpPr>
        <p:spPr>
          <a:xfrm>
            <a:off x="10005090" y="5387340"/>
            <a:ext cx="1326000" cy="3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ajusta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f9f1056e8f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f9f1056e8f_0_72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9f1056e8f_0_72"/>
          <p:cNvSpPr txBox="1"/>
          <p:nvPr/>
        </p:nvSpPr>
        <p:spPr>
          <a:xfrm>
            <a:off x="630400" y="1645025"/>
            <a:ext cx="486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ES" sz="2400">
                <a:solidFill>
                  <a:srgbClr val="073763"/>
                </a:solidFill>
              </a:rPr>
              <a:t>El ciclo agentivo</a:t>
            </a:r>
            <a:endParaRPr b="1" i="0" sz="26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9f1056e8f_0_72"/>
          <p:cNvSpPr/>
          <p:nvPr/>
        </p:nvSpPr>
        <p:spPr>
          <a:xfrm>
            <a:off x="630390" y="5707485"/>
            <a:ext cx="987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300"/>
              <a:buFont typeface="Arial"/>
              <a:buNone/>
            </a:pPr>
            <a:r>
              <a:rPr b="1" lang="es-ES" sz="2300">
                <a:solidFill>
                  <a:srgbClr val="243B5C"/>
                </a:solidFill>
              </a:rPr>
              <a:t>El ciclo puede repetirse antes de responder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9f1056e8f_0_72"/>
          <p:cNvSpPr/>
          <p:nvPr/>
        </p:nvSpPr>
        <p:spPr>
          <a:xfrm>
            <a:off x="719305" y="3141388"/>
            <a:ext cx="1783200" cy="502800"/>
          </a:xfrm>
          <a:prstGeom prst="roundRect">
            <a:avLst>
              <a:gd fmla="val 16667" name="adj"/>
            </a:avLst>
          </a:prstGeom>
          <a:solidFill>
            <a:srgbClr val="88888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9f1056e8f_0_72"/>
          <p:cNvSpPr/>
          <p:nvPr/>
        </p:nvSpPr>
        <p:spPr>
          <a:xfrm>
            <a:off x="3447265" y="3155038"/>
            <a:ext cx="1828800" cy="475500"/>
          </a:xfrm>
          <a:prstGeom prst="roundRect">
            <a:avLst>
              <a:gd fmla="val 16667" name="adj"/>
            </a:avLst>
          </a:prstGeom>
          <a:solidFill>
            <a:srgbClr val="1CCD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150"/>
              <a:buFont typeface="Arial"/>
              <a:buNone/>
            </a:pPr>
            <a:r>
              <a:rPr b="1" i="0" lang="es-ES" sz="11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OBSERVAR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f9f1056e8f_0_72"/>
          <p:cNvSpPr/>
          <p:nvPr/>
        </p:nvSpPr>
        <p:spPr>
          <a:xfrm>
            <a:off x="6350460" y="4289700"/>
            <a:ext cx="1828800" cy="475500"/>
          </a:xfrm>
          <a:prstGeom prst="roundRect">
            <a:avLst>
              <a:gd fmla="val 16667" name="adj"/>
            </a:avLst>
          </a:prstGeom>
          <a:solidFill>
            <a:srgbClr val="ED1C24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s-E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DECIDIR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9f1056e8f_0_72"/>
          <p:cNvSpPr/>
          <p:nvPr/>
        </p:nvSpPr>
        <p:spPr>
          <a:xfrm>
            <a:off x="9253705" y="3155038"/>
            <a:ext cx="1828800" cy="475500"/>
          </a:xfrm>
          <a:prstGeom prst="roundRect">
            <a:avLst>
              <a:gd fmla="val 16667" name="adj"/>
            </a:avLst>
          </a:prstGeom>
          <a:solidFill>
            <a:srgbClr val="0072BC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s-E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ACTUAR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3f9f1056e8f_0_72"/>
          <p:cNvCxnSpPr>
            <a:stCxn id="182" idx="3"/>
            <a:endCxn id="183" idx="1"/>
          </p:cNvCxnSpPr>
          <p:nvPr/>
        </p:nvCxnSpPr>
        <p:spPr>
          <a:xfrm>
            <a:off x="2502505" y="3392788"/>
            <a:ext cx="944700" cy="0"/>
          </a:xfrm>
          <a:prstGeom prst="straightConnector1">
            <a:avLst/>
          </a:prstGeom>
          <a:noFill/>
          <a:ln cap="flat" cmpd="sng" w="27925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g3f9f1056e8f_0_72"/>
          <p:cNvCxnSpPr>
            <a:endCxn id="184" idx="1"/>
          </p:cNvCxnSpPr>
          <p:nvPr/>
        </p:nvCxnSpPr>
        <p:spPr>
          <a:xfrm>
            <a:off x="5276160" y="3392850"/>
            <a:ext cx="1074300" cy="1134600"/>
          </a:xfrm>
          <a:prstGeom prst="straightConnector1">
            <a:avLst/>
          </a:prstGeom>
          <a:noFill/>
          <a:ln cap="flat" cmpd="sng" w="27925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g3f9f1056e8f_0_72"/>
          <p:cNvCxnSpPr>
            <a:stCxn id="184" idx="3"/>
          </p:cNvCxnSpPr>
          <p:nvPr/>
        </p:nvCxnSpPr>
        <p:spPr>
          <a:xfrm flipH="1" rot="10800000">
            <a:off x="8179260" y="3392850"/>
            <a:ext cx="1074300" cy="1134600"/>
          </a:xfrm>
          <a:prstGeom prst="straightConnector1">
            <a:avLst/>
          </a:prstGeom>
          <a:noFill/>
          <a:ln cap="flat" cmpd="sng" w="27925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g3f9f1056e8f_0_72"/>
          <p:cNvCxnSpPr/>
          <p:nvPr/>
        </p:nvCxnSpPr>
        <p:spPr>
          <a:xfrm rot="10800000">
            <a:off x="5276005" y="3392782"/>
            <a:ext cx="3977700" cy="0"/>
          </a:xfrm>
          <a:prstGeom prst="straightConnector1">
            <a:avLst/>
          </a:prstGeom>
          <a:noFill/>
          <a:ln cap="flat" cmpd="sng" w="27925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f9f1056e8f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f9f1056e8f_0_108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9f1056e8f_0_108"/>
          <p:cNvSpPr txBox="1"/>
          <p:nvPr/>
        </p:nvSpPr>
        <p:spPr>
          <a:xfrm>
            <a:off x="630400" y="1645025"/>
            <a:ext cx="486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ES" sz="2400">
                <a:solidFill>
                  <a:srgbClr val="073763"/>
                </a:solidFill>
              </a:rPr>
              <a:t>Arquitectura del laboratorio</a:t>
            </a:r>
            <a:endParaRPr b="1" i="0" sz="26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9f1056e8f_0_108"/>
          <p:cNvSpPr/>
          <p:nvPr/>
        </p:nvSpPr>
        <p:spPr>
          <a:xfrm>
            <a:off x="630410" y="3609340"/>
            <a:ext cx="1554600" cy="4938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9f1056e8f_0_108"/>
          <p:cNvSpPr/>
          <p:nvPr/>
        </p:nvSpPr>
        <p:spPr>
          <a:xfrm>
            <a:off x="2642090" y="3609340"/>
            <a:ext cx="1783200" cy="4938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Cloud Shell</a:t>
            </a:r>
            <a:endParaRPr b="0" i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9f1056e8f_0_108"/>
          <p:cNvSpPr/>
          <p:nvPr/>
        </p:nvSpPr>
        <p:spPr>
          <a:xfrm>
            <a:off x="4973810" y="3609340"/>
            <a:ext cx="1783200" cy="4938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Gemini CLI</a:t>
            </a:r>
            <a:endParaRPr b="0" i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9f1056e8f_0_108"/>
          <p:cNvSpPr/>
          <p:nvPr/>
        </p:nvSpPr>
        <p:spPr>
          <a:xfrm>
            <a:off x="7305530" y="2896108"/>
            <a:ext cx="1691700" cy="4572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agent-lab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9f1056e8f_0_108"/>
          <p:cNvSpPr/>
          <p:nvPr/>
        </p:nvSpPr>
        <p:spPr>
          <a:xfrm>
            <a:off x="7305530" y="4322572"/>
            <a:ext cx="1691700" cy="4572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Skills + MCP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9f1056e8f_0_108"/>
          <p:cNvSpPr/>
          <p:nvPr/>
        </p:nvSpPr>
        <p:spPr>
          <a:xfrm>
            <a:off x="9637250" y="3609340"/>
            <a:ext cx="1417200" cy="4938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Artefacto</a:t>
            </a:r>
            <a:endParaRPr b="0" i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g3f9f1056e8f_0_108"/>
          <p:cNvCxnSpPr/>
          <p:nvPr/>
        </p:nvCxnSpPr>
        <p:spPr>
          <a:xfrm>
            <a:off x="2184890" y="385622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g3f9f1056e8f_0_108"/>
          <p:cNvCxnSpPr/>
          <p:nvPr/>
        </p:nvCxnSpPr>
        <p:spPr>
          <a:xfrm>
            <a:off x="4425170" y="3856228"/>
            <a:ext cx="5487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" name="Google Shape;206;g3f9f1056e8f_0_108"/>
          <p:cNvCxnSpPr/>
          <p:nvPr/>
        </p:nvCxnSpPr>
        <p:spPr>
          <a:xfrm flipH="1" rot="10800000">
            <a:off x="6756890" y="3124828"/>
            <a:ext cx="548700" cy="73140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g3f9f1056e8f_0_108"/>
          <p:cNvCxnSpPr/>
          <p:nvPr/>
        </p:nvCxnSpPr>
        <p:spPr>
          <a:xfrm>
            <a:off x="6756890" y="3856228"/>
            <a:ext cx="548700" cy="69480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g3f9f1056e8f_0_108"/>
          <p:cNvCxnSpPr/>
          <p:nvPr/>
        </p:nvCxnSpPr>
        <p:spPr>
          <a:xfrm>
            <a:off x="8997170" y="3124708"/>
            <a:ext cx="640200" cy="73140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" name="Google Shape;209;g3f9f1056e8f_0_108"/>
          <p:cNvCxnSpPr/>
          <p:nvPr/>
        </p:nvCxnSpPr>
        <p:spPr>
          <a:xfrm flipH="1" rot="10800000">
            <a:off x="8997170" y="3856372"/>
            <a:ext cx="640200" cy="69480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g3f9f1056e8f_0_108"/>
          <p:cNvSpPr/>
          <p:nvPr/>
        </p:nvSpPr>
        <p:spPr>
          <a:xfrm>
            <a:off x="3558597" y="5452872"/>
            <a:ext cx="5074800" cy="804600"/>
          </a:xfrm>
          <a:prstGeom prst="roundRect">
            <a:avLst>
              <a:gd fmla="val 16667" name="adj"/>
            </a:avLst>
          </a:prstGeom>
          <a:solidFill>
            <a:srgbClr val="162944"/>
          </a:solidFill>
          <a:ln cap="flat" cmpd="sng" w="1650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scadia Mono"/>
              <a:buNone/>
            </a:pPr>
            <a:r>
              <a:rPr b="0" i="0" lang="es-ES" sz="1600" u="none" cap="none" strike="noStrike">
                <a:solidFill>
                  <a:srgbClr val="F8FAFC"/>
                </a:solidFill>
                <a:latin typeface="Cascadia Mono"/>
                <a:ea typeface="Cascadia Mono"/>
                <a:cs typeface="Cascadia Mono"/>
                <a:sym typeface="Cascadia Mono"/>
              </a:rPr>
              <a:t>cd agent-lab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scadia Mono"/>
              <a:buNone/>
            </a:pPr>
            <a:r>
              <a:rPr b="0" i="0" lang="es-ES" sz="1600" u="none" cap="none" strike="noStrike">
                <a:solidFill>
                  <a:srgbClr val="F8FAFC"/>
                </a:solidFill>
                <a:latin typeface="Cascadia Mono"/>
                <a:ea typeface="Cascadia Mono"/>
                <a:cs typeface="Cascadia Mono"/>
                <a:sym typeface="Cascadia Mono"/>
              </a:rPr>
              <a:t>gemini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f9f1056e8f_0_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f9f1056e8f_0_137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9f1056e8f_0_137"/>
          <p:cNvSpPr txBox="1"/>
          <p:nvPr/>
        </p:nvSpPr>
        <p:spPr>
          <a:xfrm>
            <a:off x="630400" y="1645025"/>
            <a:ext cx="563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ES" sz="2400">
                <a:solidFill>
                  <a:srgbClr val="073763"/>
                </a:solidFill>
              </a:rPr>
              <a:t>Piezas que integran el ecosistema</a:t>
            </a:r>
            <a:endParaRPr b="1" i="0" sz="26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9f1056e8f_0_137"/>
          <p:cNvSpPr/>
          <p:nvPr/>
        </p:nvSpPr>
        <p:spPr>
          <a:xfrm>
            <a:off x="554188" y="2419084"/>
            <a:ext cx="786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Cada pieza responde una pregunta distinta.</a:t>
            </a:r>
            <a:endParaRPr b="0" i="0" sz="105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g3f9f1056e8f_0_137"/>
          <p:cNvCxnSpPr/>
          <p:nvPr/>
        </p:nvCxnSpPr>
        <p:spPr>
          <a:xfrm>
            <a:off x="627340" y="314146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g3f9f1056e8f_0_137"/>
          <p:cNvSpPr/>
          <p:nvPr/>
        </p:nvSpPr>
        <p:spPr>
          <a:xfrm>
            <a:off x="828508" y="3141460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b="0" i="0" sz="128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9f1056e8f_0_137"/>
          <p:cNvSpPr/>
          <p:nvPr/>
        </p:nvSpPr>
        <p:spPr>
          <a:xfrm>
            <a:off x="828508" y="3507220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¿Qué quiero que consiga?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g3f9f1056e8f_0_137"/>
          <p:cNvCxnSpPr/>
          <p:nvPr/>
        </p:nvCxnSpPr>
        <p:spPr>
          <a:xfrm>
            <a:off x="3461980" y="314146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g3f9f1056e8f_0_137"/>
          <p:cNvSpPr/>
          <p:nvPr/>
        </p:nvSpPr>
        <p:spPr>
          <a:xfrm>
            <a:off x="3663148" y="3141460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Skill</a:t>
            </a:r>
            <a:endParaRPr b="0" i="0" sz="128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9f1056e8f_0_137"/>
          <p:cNvSpPr/>
          <p:nvPr/>
        </p:nvSpPr>
        <p:spPr>
          <a:xfrm>
            <a:off x="3663148" y="3507220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¿Cómo debe trabajar?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g3f9f1056e8f_0_137"/>
          <p:cNvCxnSpPr/>
          <p:nvPr/>
        </p:nvCxnSpPr>
        <p:spPr>
          <a:xfrm>
            <a:off x="6296620" y="314146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g3f9f1056e8f_0_137"/>
          <p:cNvSpPr/>
          <p:nvPr/>
        </p:nvSpPr>
        <p:spPr>
          <a:xfrm>
            <a:off x="6497802" y="3141450"/>
            <a:ext cx="263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MCP (Model Context Pro</a:t>
            </a:r>
            <a:r>
              <a:rPr b="1" lang="es-ES" sz="1280">
                <a:solidFill>
                  <a:srgbClr val="111827"/>
                </a:solidFill>
              </a:rPr>
              <a:t>tocol</a:t>
            </a:r>
            <a:r>
              <a:rPr b="1" i="0" lang="es-ES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8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9f1056e8f_0_137"/>
          <p:cNvSpPr/>
          <p:nvPr/>
        </p:nvSpPr>
        <p:spPr>
          <a:xfrm>
            <a:off x="6497788" y="3507220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¿Qué herramientas externas puede usar?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g3f9f1056e8f_0_137"/>
          <p:cNvCxnSpPr/>
          <p:nvPr/>
        </p:nvCxnSpPr>
        <p:spPr>
          <a:xfrm>
            <a:off x="9131260" y="314146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g3f9f1056e8f_0_137"/>
          <p:cNvSpPr/>
          <p:nvPr/>
        </p:nvSpPr>
        <p:spPr>
          <a:xfrm>
            <a:off x="9332428" y="3141460"/>
            <a:ext cx="205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 / entorno</a:t>
            </a:r>
            <a:endParaRPr b="0" i="0" sz="128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9f1056e8f_0_137"/>
          <p:cNvSpPr/>
          <p:nvPr/>
        </p:nvSpPr>
        <p:spPr>
          <a:xfrm>
            <a:off x="9332428" y="3507220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¿Dónde puede actuar y producir resultados?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9f1056e8f_0_137"/>
          <p:cNvSpPr/>
          <p:nvPr/>
        </p:nvSpPr>
        <p:spPr>
          <a:xfrm>
            <a:off x="874228" y="4607040"/>
            <a:ext cx="1326000" cy="411600"/>
          </a:xfrm>
          <a:prstGeom prst="roundRect">
            <a:avLst>
              <a:gd fmla="val 16667" name="adj"/>
            </a:avLst>
          </a:prstGeom>
          <a:solidFill>
            <a:srgbClr val="ED1C2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9f1056e8f_0_137"/>
          <p:cNvSpPr/>
          <p:nvPr/>
        </p:nvSpPr>
        <p:spPr>
          <a:xfrm>
            <a:off x="3827740" y="4607040"/>
            <a:ext cx="1691700" cy="411600"/>
          </a:xfrm>
          <a:prstGeom prst="roundRect">
            <a:avLst>
              <a:gd fmla="val 16667" name="adj"/>
            </a:avLst>
          </a:prstGeom>
          <a:solidFill>
            <a:srgbClr val="1CCD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9f1056e8f_0_137"/>
          <p:cNvSpPr/>
          <p:nvPr/>
        </p:nvSpPr>
        <p:spPr>
          <a:xfrm>
            <a:off x="6890980" y="4607040"/>
            <a:ext cx="1326000" cy="411600"/>
          </a:xfrm>
          <a:prstGeom prst="roundRect">
            <a:avLst>
              <a:gd fmla="val 16667" name="adj"/>
            </a:avLst>
          </a:prstGeom>
          <a:solidFill>
            <a:srgbClr val="88888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f9f1056e8f_0_137"/>
          <p:cNvSpPr/>
          <p:nvPr/>
        </p:nvSpPr>
        <p:spPr>
          <a:xfrm>
            <a:off x="9588460" y="4607040"/>
            <a:ext cx="1417200" cy="411600"/>
          </a:xfrm>
          <a:prstGeom prst="roundRect">
            <a:avLst>
              <a:gd fmla="val 16667" name="adj"/>
            </a:avLst>
          </a:prstGeom>
          <a:solidFill>
            <a:srgbClr val="0072B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archivos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g3f9f1056e8f_0_137"/>
          <p:cNvCxnSpPr/>
          <p:nvPr/>
        </p:nvCxnSpPr>
        <p:spPr>
          <a:xfrm>
            <a:off x="2200108" y="4817352"/>
            <a:ext cx="1627500" cy="0"/>
          </a:xfrm>
          <a:prstGeom prst="straightConnector1">
            <a:avLst/>
          </a:prstGeom>
          <a:noFill/>
          <a:ln cap="flat" cmpd="sng" w="203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" name="Google Shape;237;g3f9f1056e8f_0_137"/>
          <p:cNvCxnSpPr/>
          <p:nvPr/>
        </p:nvCxnSpPr>
        <p:spPr>
          <a:xfrm>
            <a:off x="5519380" y="4817352"/>
            <a:ext cx="1371600" cy="0"/>
          </a:xfrm>
          <a:prstGeom prst="straightConnector1">
            <a:avLst/>
          </a:prstGeom>
          <a:noFill/>
          <a:ln cap="flat" cmpd="sng" w="203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g3f9f1056e8f_0_137"/>
          <p:cNvCxnSpPr/>
          <p:nvPr/>
        </p:nvCxnSpPr>
        <p:spPr>
          <a:xfrm>
            <a:off x="8216860" y="4817352"/>
            <a:ext cx="1371600" cy="0"/>
          </a:xfrm>
          <a:prstGeom prst="straightConnector1">
            <a:avLst/>
          </a:prstGeom>
          <a:noFill/>
          <a:ln cap="flat" cmpd="sng" w="203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g3f9f1056e8f_0_137"/>
          <p:cNvSpPr txBox="1"/>
          <p:nvPr/>
        </p:nvSpPr>
        <p:spPr>
          <a:xfrm>
            <a:off x="3581400" y="5478275"/>
            <a:ext cx="5029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00">
                <a:solidFill>
                  <a:srgbClr val="243B5C"/>
                </a:solidFill>
              </a:rPr>
              <a:t>Skill = cómo,  MCP = con qué</a:t>
            </a:r>
            <a:endParaRPr sz="2300">
              <a:solidFill>
                <a:srgbClr val="243B5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ucv/ppt/media/image3.jpg" id="245" name="Google Shape;245;g3f9f1056e8f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f9f1056e8f_0_180"/>
          <p:cNvSpPr/>
          <p:nvPr/>
        </p:nvSpPr>
        <p:spPr>
          <a:xfrm>
            <a:off x="685818" y="1678432"/>
            <a:ext cx="77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800"/>
              <a:buFont typeface="Arial"/>
              <a:buNone/>
            </a:pPr>
            <a:r>
              <a:rPr b="1" i="0" lang="es-ES" sz="24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Entrada al laboratorio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f9f1056e8f_0_180"/>
          <p:cNvSpPr/>
          <p:nvPr/>
        </p:nvSpPr>
        <p:spPr>
          <a:xfrm>
            <a:off x="11155977" y="6327648"/>
            <a:ext cx="50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g3f9f1056e8f_0_180"/>
          <p:cNvCxnSpPr/>
          <p:nvPr/>
        </p:nvCxnSpPr>
        <p:spPr>
          <a:xfrm>
            <a:off x="777261" y="258826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g3f9f1056e8f_0_180"/>
          <p:cNvSpPr/>
          <p:nvPr/>
        </p:nvSpPr>
        <p:spPr>
          <a:xfrm>
            <a:off x="978434" y="2588260"/>
            <a:ext cx="26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Paso 1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f9f1056e8f_0_180"/>
          <p:cNvSpPr/>
          <p:nvPr/>
        </p:nvSpPr>
        <p:spPr>
          <a:xfrm>
            <a:off x="978434" y="2954020"/>
            <a:ext cx="260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Abrir el enlace del laboratorio en Cloud Shell.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g3f9f1056e8f_0_180"/>
          <p:cNvCxnSpPr/>
          <p:nvPr/>
        </p:nvCxnSpPr>
        <p:spPr>
          <a:xfrm>
            <a:off x="3794861" y="258826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g3f9f1056e8f_0_180"/>
          <p:cNvSpPr/>
          <p:nvPr/>
        </p:nvSpPr>
        <p:spPr>
          <a:xfrm>
            <a:off x="3996035" y="2588260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Paso 2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f9f1056e8f_0_180"/>
          <p:cNvSpPr/>
          <p:nvPr/>
        </p:nvSpPr>
        <p:spPr>
          <a:xfrm>
            <a:off x="3996035" y="2954020"/>
            <a:ext cx="333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Aceptar la carpeta como espacio de trabajo confiable.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g3f9f1056e8f_0_180"/>
          <p:cNvCxnSpPr/>
          <p:nvPr/>
        </p:nvCxnSpPr>
        <p:spPr>
          <a:xfrm>
            <a:off x="7726886" y="258826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g3f9f1056e8f_0_180"/>
          <p:cNvSpPr/>
          <p:nvPr/>
        </p:nvSpPr>
        <p:spPr>
          <a:xfrm>
            <a:off x="7928059" y="2588260"/>
            <a:ext cx="306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Paso 3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9f1056e8f_0_180"/>
          <p:cNvSpPr/>
          <p:nvPr/>
        </p:nvSpPr>
        <p:spPr>
          <a:xfrm>
            <a:off x="7928059" y="2954020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Iniciar Gemini desde la carpeta agent-lab.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f9f1056e8f_0_180"/>
          <p:cNvSpPr/>
          <p:nvPr/>
        </p:nvSpPr>
        <p:spPr>
          <a:xfrm>
            <a:off x="1005867" y="4135120"/>
            <a:ext cx="4114800" cy="8412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01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Cascadia Mono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cd agent-lab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Cascadia Mono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gemini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f9f1056e8f_0_180"/>
          <p:cNvSpPr/>
          <p:nvPr/>
        </p:nvSpPr>
        <p:spPr>
          <a:xfrm>
            <a:off x="5852316" y="4135120"/>
            <a:ext cx="4480500" cy="10515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01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Cascadia Mono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/model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Cascadia Mono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→ gemini-3.1-flash-lite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Cascadia Mono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→ Remember model: true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9f1056e8f_0_180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f9f1056e8f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f9f1056e8f_0_200"/>
          <p:cNvSpPr/>
          <p:nvPr/>
        </p:nvSpPr>
        <p:spPr>
          <a:xfrm>
            <a:off x="704093" y="1734820"/>
            <a:ext cx="77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s-ES" sz="24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Reto 1 · Agente base</a:t>
            </a:r>
            <a:endParaRPr b="0" i="0" sz="240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9f1056e8f_0_200"/>
          <p:cNvSpPr/>
          <p:nvPr/>
        </p:nvSpPr>
        <p:spPr>
          <a:xfrm>
            <a:off x="704107" y="2386584"/>
            <a:ext cx="78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Antes de hablar de Skills o MCP, observamos acción sobre archivos.</a:t>
            </a:r>
            <a:endParaRPr b="0" i="0" sz="10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9f1056e8f_0_200"/>
          <p:cNvSpPr/>
          <p:nvPr/>
        </p:nvSpPr>
        <p:spPr>
          <a:xfrm>
            <a:off x="777261" y="3017520"/>
            <a:ext cx="5074800" cy="20574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650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20"/>
              <a:buFont typeface="Cascadia Mono"/>
              <a:buNone/>
            </a:pPr>
            <a:r>
              <a:rPr b="0" i="0" lang="es-ES" sz="132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Analiza proyecto.md</a:t>
            </a:r>
            <a:endParaRPr b="0" i="0" sz="13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20"/>
              <a:buFont typeface="Cascadia Mono"/>
              <a:buNone/>
            </a:pPr>
            <a:r>
              <a:rPr b="0" i="0" lang="es-ES" sz="132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Identifica el principal problema</a:t>
            </a:r>
            <a:endParaRPr b="0" i="0" sz="13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20"/>
              <a:buFont typeface="Cascadia Mono"/>
              <a:buNone/>
            </a:pPr>
            <a:r>
              <a:rPr b="0" i="0" lang="es-ES" sz="132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Crea diagnostico.md</a:t>
            </a:r>
            <a:endParaRPr b="0" i="0" sz="13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20"/>
              <a:buFont typeface="Cascadia Mono"/>
              <a:buNone/>
            </a:pPr>
            <a:r>
              <a:rPr b="0" i="0" lang="es-ES" sz="132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No modifiques proyecto.md</a:t>
            </a:r>
            <a:endParaRPr b="0" i="0" sz="13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f9f1056e8f_0_200"/>
          <p:cNvSpPr/>
          <p:nvPr/>
        </p:nvSpPr>
        <p:spPr>
          <a:xfrm>
            <a:off x="6629577" y="2926080"/>
            <a:ext cx="1828800" cy="676800"/>
          </a:xfrm>
          <a:prstGeom prst="roundRect">
            <a:avLst>
              <a:gd fmla="val 16667" name="adj"/>
            </a:avLst>
          </a:prstGeom>
          <a:solidFill>
            <a:srgbClr val="1CCD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ReadFile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proyecto.md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9f1056e8f_0_200"/>
          <p:cNvSpPr/>
          <p:nvPr/>
        </p:nvSpPr>
        <p:spPr>
          <a:xfrm>
            <a:off x="6629577" y="4050792"/>
            <a:ext cx="1828800" cy="676800"/>
          </a:xfrm>
          <a:prstGeom prst="roundRect">
            <a:avLst>
              <a:gd fmla="val 16667" name="adj"/>
            </a:avLst>
          </a:prstGeom>
          <a:solidFill>
            <a:srgbClr val="ED1C24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evaluar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9f1056e8f_0_200"/>
          <p:cNvSpPr/>
          <p:nvPr/>
        </p:nvSpPr>
        <p:spPr>
          <a:xfrm>
            <a:off x="6629577" y="5175504"/>
            <a:ext cx="1828800" cy="676800"/>
          </a:xfrm>
          <a:prstGeom prst="roundRect">
            <a:avLst>
              <a:gd fmla="val 16667" name="adj"/>
            </a:avLst>
          </a:prstGeom>
          <a:solidFill>
            <a:srgbClr val="0072BC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WriteFile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diagnostico.md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g3f9f1056e8f_0_200"/>
          <p:cNvCxnSpPr/>
          <p:nvPr/>
        </p:nvCxnSpPr>
        <p:spPr>
          <a:xfrm>
            <a:off x="7544001" y="3602736"/>
            <a:ext cx="0" cy="44820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g3f9f1056e8f_0_200"/>
          <p:cNvCxnSpPr/>
          <p:nvPr/>
        </p:nvCxnSpPr>
        <p:spPr>
          <a:xfrm>
            <a:off x="7544001" y="4727448"/>
            <a:ext cx="0" cy="44820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" name="Google Shape;274;g3f9f1056e8f_0_200"/>
          <p:cNvSpPr/>
          <p:nvPr/>
        </p:nvSpPr>
        <p:spPr>
          <a:xfrm>
            <a:off x="1165750" y="5560042"/>
            <a:ext cx="4297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s-ES" sz="15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b="1" lang="es-ES" sz="1550">
                <a:solidFill>
                  <a:srgbClr val="243B5C"/>
                </a:solidFill>
              </a:rPr>
              <a:t>Q</a:t>
            </a:r>
            <a:r>
              <a:rPr b="1" i="0" lang="es-ES" sz="15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ué decidió el agente sin que se lo indiquemos paso a paso?</a:t>
            </a:r>
            <a:endParaRPr b="0" i="0" sz="15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9f1056e8f_0_200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ucv/ppt/media/image3.jpg" id="281" name="Google Shape;281;g3f9f1056e8f_0_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9f1056e8f_0_215"/>
          <p:cNvSpPr/>
          <p:nvPr/>
        </p:nvSpPr>
        <p:spPr>
          <a:xfrm>
            <a:off x="685818" y="1653032"/>
            <a:ext cx="77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800"/>
              <a:buFont typeface="Arial"/>
              <a:buNone/>
            </a:pPr>
            <a:r>
              <a:rPr b="1" i="0" lang="es-ES" sz="24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Reto 2 · Activar un Skill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9f1056e8f_0_215"/>
          <p:cNvSpPr/>
          <p:nvPr/>
        </p:nvSpPr>
        <p:spPr>
          <a:xfrm>
            <a:off x="704107" y="2201672"/>
            <a:ext cx="78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785"/>
              </a:buClr>
              <a:buSzPts val="1280"/>
              <a:buFont typeface="Arial"/>
              <a:buNone/>
            </a:pPr>
            <a:r>
              <a:rPr b="0" i="0" lang="es-ES" sz="1280" u="none" cap="none" strike="noStrike">
                <a:solidFill>
                  <a:srgbClr val="6E7785"/>
                </a:solidFill>
                <a:latin typeface="Arial"/>
                <a:ea typeface="Arial"/>
                <a:cs typeface="Arial"/>
                <a:sym typeface="Arial"/>
              </a:rPr>
              <a:t>El mismo modelo adopta una metodología especializada.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9f1056e8f_0_215"/>
          <p:cNvSpPr/>
          <p:nvPr/>
        </p:nvSpPr>
        <p:spPr>
          <a:xfrm>
            <a:off x="822982" y="2640584"/>
            <a:ext cx="5257800" cy="19935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650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60"/>
              <a:buFont typeface="Cascadia Mono"/>
              <a:buNone/>
            </a:pPr>
            <a:r>
              <a:rPr b="0" i="0" lang="es-ES" sz="126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Audita adversarialmente proyecto.md</a:t>
            </a:r>
            <a:endParaRPr b="0" i="0" sz="126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60"/>
              <a:buFont typeface="Cascadia Mono"/>
              <a:buNone/>
            </a:pPr>
            <a:r>
              <a:rPr b="0" i="0" lang="es-ES" sz="126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Identifica supuestos, riesgos,</a:t>
            </a:r>
            <a:endParaRPr b="0" i="0" sz="126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60"/>
              <a:buFont typeface="Cascadia Mono"/>
              <a:buNone/>
            </a:pPr>
            <a:r>
              <a:rPr b="0" i="0" lang="es-ES" sz="126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contradicciones e información faltante.</a:t>
            </a:r>
            <a:endParaRPr b="0" i="0" sz="126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60"/>
              <a:buFont typeface="Cascadia Mono"/>
              <a:buNone/>
            </a:pPr>
            <a:r>
              <a:rPr b="0" i="0" lang="es-ES" sz="126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Crea auditoria.md</a:t>
            </a:r>
            <a:endParaRPr b="0" i="0" sz="126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g3f9f1056e8f_0_215"/>
          <p:cNvCxnSpPr/>
          <p:nvPr/>
        </p:nvCxnSpPr>
        <p:spPr>
          <a:xfrm>
            <a:off x="6629577" y="281432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g3f9f1056e8f_0_215"/>
          <p:cNvSpPr/>
          <p:nvPr/>
        </p:nvSpPr>
        <p:spPr>
          <a:xfrm>
            <a:off x="6830750" y="281432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Lo que debe aparecer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9f1056e8f_0_215"/>
          <p:cNvSpPr/>
          <p:nvPr/>
        </p:nvSpPr>
        <p:spPr>
          <a:xfrm>
            <a:off x="6830750" y="3180080"/>
            <a:ext cx="352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Activate Skill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“auditor-proyectos”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9f1056e8f_0_215"/>
          <p:cNvSpPr/>
          <p:nvPr/>
        </p:nvSpPr>
        <p:spPr>
          <a:xfrm>
            <a:off x="6583856" y="4196080"/>
            <a:ext cx="1508700" cy="4572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9f1056e8f_0_215"/>
          <p:cNvSpPr/>
          <p:nvPr/>
        </p:nvSpPr>
        <p:spPr>
          <a:xfrm>
            <a:off x="8915638" y="4196080"/>
            <a:ext cx="1508700" cy="4572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SKILL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g3f9f1056e8f_0_215"/>
          <p:cNvCxnSpPr/>
          <p:nvPr/>
        </p:nvCxnSpPr>
        <p:spPr>
          <a:xfrm>
            <a:off x="8092656" y="4424680"/>
            <a:ext cx="8229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g3f9f1056e8f_0_215"/>
          <p:cNvSpPr/>
          <p:nvPr/>
        </p:nvSpPr>
        <p:spPr>
          <a:xfrm>
            <a:off x="1097309" y="5285232"/>
            <a:ext cx="9875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Una Skill no es una app</a:t>
            </a:r>
            <a:r>
              <a:rPr b="1" lang="es-ES" sz="2300">
                <a:solidFill>
                  <a:srgbClr val="243B5C"/>
                </a:solidFill>
              </a:rPr>
              <a:t>,</a:t>
            </a:r>
            <a:r>
              <a:rPr b="1" i="0" lang="es-ES" sz="23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 es una forma de trabajar reutilizable.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9f1056e8f_0_215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ucv/ppt/media/image3.jpg" id="298" name="Google Shape;298;g3f9f1056e8f_0_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f9f1056e8f_0_231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9f1056e8f_0_231"/>
          <p:cNvSpPr/>
          <p:nvPr/>
        </p:nvSpPr>
        <p:spPr>
          <a:xfrm>
            <a:off x="685818" y="1633220"/>
            <a:ext cx="77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s-ES" sz="24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Reto 3 · MCP</a:t>
            </a:r>
            <a:endParaRPr b="0" i="0" sz="240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f9f1056e8f_0_231"/>
          <p:cNvSpPr/>
          <p:nvPr/>
        </p:nvSpPr>
        <p:spPr>
          <a:xfrm>
            <a:off x="704107" y="2145284"/>
            <a:ext cx="78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Ahora el agente accede a una herramienta externa.</a:t>
            </a:r>
            <a:endParaRPr b="0" i="0" sz="10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9f1056e8f_0_231"/>
          <p:cNvSpPr/>
          <p:nvPr/>
        </p:nvSpPr>
        <p:spPr>
          <a:xfrm>
            <a:off x="822982" y="2684780"/>
            <a:ext cx="3474600" cy="10515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650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scadia Mono"/>
              <a:buNone/>
            </a:pPr>
            <a:r>
              <a:rPr b="0" i="0" lang="es-ES" sz="140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/mcp list</a:t>
            </a:r>
            <a:endParaRPr b="0" i="0" sz="140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scadia Mono"/>
              <a:buNone/>
            </a:pPr>
            <a:r>
              <a:rPr b="0" i="0" lang="es-ES" sz="140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/mcp schema</a:t>
            </a:r>
            <a:endParaRPr b="0" i="0" sz="140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9f1056e8f_0_231"/>
          <p:cNvSpPr/>
          <p:nvPr/>
        </p:nvSpPr>
        <p:spPr>
          <a:xfrm>
            <a:off x="822982" y="4147820"/>
            <a:ext cx="4343400" cy="15087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650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Cascadia Mono"/>
              <a:buNone/>
            </a:pPr>
            <a:r>
              <a:rPr b="0" i="0" lang="es-ES" sz="122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Usa mcp_demo_get-sum</a:t>
            </a:r>
            <a:endParaRPr b="0" i="0" sz="12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Cascadia Mono"/>
              <a:buNone/>
            </a:pPr>
            <a:r>
              <a:rPr b="0" i="0" lang="es-ES" sz="122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para calcular 137 + 286.</a:t>
            </a:r>
            <a:endParaRPr b="0" i="0" sz="12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Cascadia Mono"/>
              <a:buNone/>
            </a:pPr>
            <a:r>
              <a:rPr b="0" i="0" lang="es-ES" sz="122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No uses Shell.</a:t>
            </a:r>
            <a:endParaRPr b="0" i="0" sz="12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f9f1056e8f_0_231"/>
          <p:cNvSpPr/>
          <p:nvPr/>
        </p:nvSpPr>
        <p:spPr>
          <a:xfrm>
            <a:off x="5989480" y="2667000"/>
            <a:ext cx="1417200" cy="475500"/>
          </a:xfrm>
          <a:prstGeom prst="roundRect">
            <a:avLst>
              <a:gd fmla="val 16667" name="adj"/>
            </a:avLst>
          </a:prstGeom>
          <a:solidFill>
            <a:srgbClr val="1CCDFF"/>
          </a:solidFill>
          <a:ln cap="flat" cmpd="sng" w="190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9f1056e8f_0_231"/>
          <p:cNvSpPr/>
          <p:nvPr/>
        </p:nvSpPr>
        <p:spPr>
          <a:xfrm>
            <a:off x="7973781" y="2667000"/>
            <a:ext cx="1600200" cy="475500"/>
          </a:xfrm>
          <a:prstGeom prst="roundRect">
            <a:avLst>
              <a:gd fmla="val 16667" name="adj"/>
            </a:avLst>
          </a:prstGeom>
          <a:solidFill>
            <a:srgbClr val="ED1C24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demo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9f1056e8f_0_231"/>
          <p:cNvSpPr/>
          <p:nvPr/>
        </p:nvSpPr>
        <p:spPr>
          <a:xfrm>
            <a:off x="10012947" y="2667000"/>
            <a:ext cx="1417200" cy="475500"/>
          </a:xfrm>
          <a:prstGeom prst="roundRect">
            <a:avLst>
              <a:gd fmla="val 16667" name="adj"/>
            </a:avLst>
          </a:prstGeom>
          <a:solidFill>
            <a:srgbClr val="0072BC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s-E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get-sum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g3f9f1056e8f_0_231"/>
          <p:cNvCxnSpPr/>
          <p:nvPr/>
        </p:nvCxnSpPr>
        <p:spPr>
          <a:xfrm>
            <a:off x="7406837" y="2904744"/>
            <a:ext cx="5670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g3f9f1056e8f_0_231"/>
          <p:cNvCxnSpPr/>
          <p:nvPr/>
        </p:nvCxnSpPr>
        <p:spPr>
          <a:xfrm>
            <a:off x="9574023" y="2904744"/>
            <a:ext cx="4389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g3f9f1056e8f_0_231"/>
          <p:cNvSpPr/>
          <p:nvPr/>
        </p:nvSpPr>
        <p:spPr>
          <a:xfrm>
            <a:off x="7699453" y="3901440"/>
            <a:ext cx="1417200" cy="621900"/>
          </a:xfrm>
          <a:prstGeom prst="roundRect">
            <a:avLst>
              <a:gd fmla="val 16667" name="adj"/>
            </a:avLst>
          </a:prstGeom>
          <a:solidFill>
            <a:srgbClr val="88888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s-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=137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b=286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g3f9f1056e8f_0_231"/>
          <p:cNvCxnSpPr/>
          <p:nvPr/>
        </p:nvCxnSpPr>
        <p:spPr>
          <a:xfrm>
            <a:off x="8321262" y="3142488"/>
            <a:ext cx="0" cy="759000"/>
          </a:xfrm>
          <a:prstGeom prst="straightConnector1">
            <a:avLst/>
          </a:prstGeom>
          <a:noFill/>
          <a:ln cap="flat" cmpd="sng" w="21575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g3f9f1056e8f_0_231"/>
          <p:cNvSpPr/>
          <p:nvPr/>
        </p:nvSpPr>
        <p:spPr>
          <a:xfrm>
            <a:off x="9921504" y="3901440"/>
            <a:ext cx="1051500" cy="621900"/>
          </a:xfrm>
          <a:prstGeom prst="roundRect">
            <a:avLst>
              <a:gd fmla="val 16667" name="adj"/>
            </a:avLst>
          </a:prstGeom>
          <a:solidFill>
            <a:srgbClr val="88888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423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g3f9f1056e8f_0_231"/>
          <p:cNvCxnSpPr/>
          <p:nvPr/>
        </p:nvCxnSpPr>
        <p:spPr>
          <a:xfrm>
            <a:off x="9116811" y="4212336"/>
            <a:ext cx="8046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3" name="Google Shape;313;g3f9f1056e8f_0_231"/>
          <p:cNvSpPr/>
          <p:nvPr/>
        </p:nvSpPr>
        <p:spPr>
          <a:xfrm>
            <a:off x="731540" y="6217920"/>
            <a:ext cx="841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920"/>
              <a:buFont typeface="Arial"/>
              <a:buNone/>
            </a:pPr>
            <a:r>
              <a:rPr b="0" i="0" lang="es-ES" sz="92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MCP no es “inteligencia”: es una vía estandarizada para exponer herramientas al agente.</a:t>
            </a:r>
            <a:endParaRPr b="0" i="0" sz="9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ucv/ppt/media/image3.jpg" id="319" name="Google Shape;319;g3f9f1056e8f_0_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f9f1056e8f_0_251"/>
          <p:cNvSpPr/>
          <p:nvPr/>
        </p:nvSpPr>
        <p:spPr>
          <a:xfrm>
            <a:off x="444518" y="1691132"/>
            <a:ext cx="77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800"/>
              <a:buFont typeface="Arial"/>
              <a:buNone/>
            </a:pPr>
            <a:r>
              <a:rPr b="1" i="0" lang="es-ES" sz="24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Reto 4 · Skill + MCP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9f1056e8f_0_251"/>
          <p:cNvSpPr/>
          <p:nvPr/>
        </p:nvSpPr>
        <p:spPr>
          <a:xfrm>
            <a:off x="462807" y="2239772"/>
            <a:ext cx="78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785"/>
              </a:buClr>
              <a:buSzPts val="1280"/>
              <a:buFont typeface="Arial"/>
              <a:buNone/>
            </a:pPr>
            <a:r>
              <a:rPr b="0" i="0" lang="es-ES" sz="1280" u="none" cap="none" strike="noStrike">
                <a:solidFill>
                  <a:srgbClr val="6E7785"/>
                </a:solidFill>
                <a:latin typeface="Arial"/>
                <a:ea typeface="Arial"/>
                <a:cs typeface="Arial"/>
                <a:sym typeface="Arial"/>
              </a:rPr>
              <a:t>La prueba central: metodología + herramienta + artefacto.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9f1056e8f_0_251"/>
          <p:cNvSpPr/>
          <p:nvPr/>
        </p:nvSpPr>
        <p:spPr>
          <a:xfrm>
            <a:off x="581682" y="2943860"/>
            <a:ext cx="1463100" cy="4389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9f1056e8f_0_251"/>
          <p:cNvSpPr/>
          <p:nvPr/>
        </p:nvSpPr>
        <p:spPr>
          <a:xfrm>
            <a:off x="2410531" y="2943860"/>
            <a:ext cx="1600200" cy="4389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Gemini CLI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f9f1056e8f_0_251"/>
          <p:cNvSpPr/>
          <p:nvPr/>
        </p:nvSpPr>
        <p:spPr>
          <a:xfrm>
            <a:off x="4467986" y="2733548"/>
            <a:ext cx="1417200" cy="5853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Skill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auditor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f9f1056e8f_0_251"/>
          <p:cNvSpPr/>
          <p:nvPr/>
        </p:nvSpPr>
        <p:spPr>
          <a:xfrm>
            <a:off x="4467986" y="3739388"/>
            <a:ext cx="1417200" cy="5853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ReadFile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proyecto.md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9f1056e8f_0_251"/>
          <p:cNvSpPr/>
          <p:nvPr/>
        </p:nvSpPr>
        <p:spPr>
          <a:xfrm>
            <a:off x="6525440" y="2943860"/>
            <a:ext cx="1417200" cy="5853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get-sum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f9f1056e8f_0_251"/>
          <p:cNvSpPr/>
          <p:nvPr/>
        </p:nvSpPr>
        <p:spPr>
          <a:xfrm>
            <a:off x="8445732" y="2943860"/>
            <a:ext cx="1600200" cy="5853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Observa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00"/>
              <a:buFont typeface="Arial"/>
              <a:buNone/>
            </a:pPr>
            <a:r>
              <a:rPr b="1" i="0" lang="es-ES" sz="10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5250&gt;5000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f9f1056e8f_0_251"/>
          <p:cNvSpPr/>
          <p:nvPr/>
        </p:nvSpPr>
        <p:spPr>
          <a:xfrm>
            <a:off x="10320302" y="2943860"/>
            <a:ext cx="1234500" cy="5853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WriteFile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950"/>
              <a:buFont typeface="Arial"/>
              <a:buNone/>
            </a:pPr>
            <a:r>
              <a:rPr b="1" i="0" lang="es-ES" sz="9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g3f9f1056e8f_0_251"/>
          <p:cNvCxnSpPr/>
          <p:nvPr/>
        </p:nvCxnSpPr>
        <p:spPr>
          <a:xfrm>
            <a:off x="2044761" y="3163316"/>
            <a:ext cx="365700" cy="0"/>
          </a:xfrm>
          <a:prstGeom prst="straightConnector1">
            <a:avLst/>
          </a:prstGeom>
          <a:noFill/>
          <a:ln cap="flat" cmpd="sng" w="2285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g3f9f1056e8f_0_251"/>
          <p:cNvCxnSpPr/>
          <p:nvPr/>
        </p:nvCxnSpPr>
        <p:spPr>
          <a:xfrm flipH="1" rot="10800000">
            <a:off x="4010773" y="3026216"/>
            <a:ext cx="457200" cy="137100"/>
          </a:xfrm>
          <a:prstGeom prst="straightConnector1">
            <a:avLst/>
          </a:prstGeom>
          <a:noFill/>
          <a:ln cap="flat" cmpd="sng" w="2285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g3f9f1056e8f_0_251"/>
          <p:cNvCxnSpPr/>
          <p:nvPr/>
        </p:nvCxnSpPr>
        <p:spPr>
          <a:xfrm>
            <a:off x="4010773" y="3163316"/>
            <a:ext cx="457200" cy="868800"/>
          </a:xfrm>
          <a:prstGeom prst="straightConnector1">
            <a:avLst/>
          </a:prstGeom>
          <a:noFill/>
          <a:ln cap="flat" cmpd="sng" w="2285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2" name="Google Shape;332;g3f9f1056e8f_0_251"/>
          <p:cNvCxnSpPr/>
          <p:nvPr/>
        </p:nvCxnSpPr>
        <p:spPr>
          <a:xfrm>
            <a:off x="5885343" y="3026156"/>
            <a:ext cx="640200" cy="210300"/>
          </a:xfrm>
          <a:prstGeom prst="straightConnector1">
            <a:avLst/>
          </a:prstGeom>
          <a:noFill/>
          <a:ln cap="flat" cmpd="sng" w="2285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g3f9f1056e8f_0_251"/>
          <p:cNvCxnSpPr/>
          <p:nvPr/>
        </p:nvCxnSpPr>
        <p:spPr>
          <a:xfrm flipH="1" rot="10800000">
            <a:off x="5885343" y="3236396"/>
            <a:ext cx="640200" cy="795600"/>
          </a:xfrm>
          <a:prstGeom prst="straightConnector1">
            <a:avLst/>
          </a:prstGeom>
          <a:noFill/>
          <a:ln cap="flat" cmpd="sng" w="2285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g3f9f1056e8f_0_251"/>
          <p:cNvCxnSpPr/>
          <p:nvPr/>
        </p:nvCxnSpPr>
        <p:spPr>
          <a:xfrm>
            <a:off x="7942798" y="3236468"/>
            <a:ext cx="502800" cy="0"/>
          </a:xfrm>
          <a:prstGeom prst="straightConnector1">
            <a:avLst/>
          </a:prstGeom>
          <a:noFill/>
          <a:ln cap="flat" cmpd="sng" w="2285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g3f9f1056e8f_0_251"/>
          <p:cNvCxnSpPr/>
          <p:nvPr/>
        </p:nvCxnSpPr>
        <p:spPr>
          <a:xfrm>
            <a:off x="10045974" y="3236468"/>
            <a:ext cx="274200" cy="0"/>
          </a:xfrm>
          <a:prstGeom prst="straightConnector1">
            <a:avLst/>
          </a:prstGeom>
          <a:noFill/>
          <a:ln cap="flat" cmpd="sng" w="2285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g3f9f1056e8f_0_251"/>
          <p:cNvSpPr/>
          <p:nvPr/>
        </p:nvSpPr>
        <p:spPr>
          <a:xfrm>
            <a:off x="1369088" y="4838700"/>
            <a:ext cx="9052800" cy="987600"/>
          </a:xfrm>
          <a:prstGeom prst="roundRect">
            <a:avLst>
              <a:gd fmla="val 16667" name="adj"/>
            </a:avLst>
          </a:prstGeom>
          <a:solidFill>
            <a:srgbClr val="DDE5F0"/>
          </a:solidFill>
          <a:ln cap="flat" cmpd="sng" w="1650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ascadia Mono"/>
              <a:buNone/>
            </a:pPr>
            <a:r>
              <a:rPr b="0" i="0" lang="es-ES" sz="118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Audita proyecto.md usando auditor-proyectos</a:t>
            </a:r>
            <a:endParaRPr b="0" i="0" sz="118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ascadia Mono"/>
              <a:buNone/>
            </a:pPr>
            <a:r>
              <a:rPr b="0" i="0" lang="es-ES" sz="118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Para sumas, usa mcp_demo_get-sum</a:t>
            </a:r>
            <a:endParaRPr b="0" i="0" sz="118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ascadia Mono"/>
              <a:buNone/>
            </a:pPr>
            <a:r>
              <a:rPr b="0" i="0" lang="es-ES" sz="118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Crea auditoria_skill_mcp.md</a:t>
            </a:r>
            <a:endParaRPr b="0" i="0" sz="118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9f1056e8f_0_251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ucv/ppt/media/image3.jpg" id="343" name="Google Shape;343;g3f9f1056e8f_0_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f9f1056e8f_0_274"/>
          <p:cNvSpPr/>
          <p:nvPr/>
        </p:nvSpPr>
        <p:spPr>
          <a:xfrm>
            <a:off x="685818" y="1823720"/>
            <a:ext cx="77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s-ES" sz="24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Crear un agente propio</a:t>
            </a:r>
            <a:endParaRPr b="0" i="0" sz="240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9f1056e8f_0_274"/>
          <p:cNvSpPr/>
          <p:nvPr/>
        </p:nvSpPr>
        <p:spPr>
          <a:xfrm>
            <a:off x="704107" y="2335784"/>
            <a:ext cx="78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Los participantes no empiezan desde cero: modifican una competencia.</a:t>
            </a:r>
            <a:endParaRPr b="0" i="0" sz="10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9f1056e8f_0_274"/>
          <p:cNvSpPr/>
          <p:nvPr/>
        </p:nvSpPr>
        <p:spPr>
          <a:xfrm>
            <a:off x="11155977" y="6327648"/>
            <a:ext cx="50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900"/>
              <a:buFont typeface="Arial"/>
              <a:buNone/>
            </a:pPr>
            <a:r>
              <a:rPr b="1" i="0" lang="es-ES" sz="900" u="none" cap="none" strike="noStrike">
                <a:solidFill>
                  <a:srgbClr val="DDE5F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9f1056e8f_0_274"/>
          <p:cNvSpPr/>
          <p:nvPr/>
        </p:nvSpPr>
        <p:spPr>
          <a:xfrm>
            <a:off x="822982" y="2875280"/>
            <a:ext cx="4800600" cy="25146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650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scadia Mono"/>
              <a:buNone/>
            </a:pPr>
            <a:r>
              <a:rPr b="0" i="0" lang="es-ES" sz="11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Abrir:</a:t>
            </a:r>
            <a:endParaRPr b="0" i="0" sz="11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scadia Mono"/>
              <a:buNone/>
            </a:pPr>
            <a:r>
              <a:rPr b="0" i="0" lang="es-ES" sz="11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.gemini/skills/auditor-proyectos/SKILL.md</a:t>
            </a:r>
            <a:endParaRPr b="0" i="0" sz="11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scadia Mono"/>
              <a:buNone/>
            </a:pPr>
            <a:r>
              <a:rPr b="0" i="0" lang="es-ES" sz="11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Cambiar:</a:t>
            </a:r>
            <a:endParaRPr b="0" i="0" sz="11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scadia Mono"/>
              <a:buNone/>
            </a:pPr>
            <a:r>
              <a:rPr b="0" i="0" lang="es-ES" sz="11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objetivo, procedimiento, restricciones,</a:t>
            </a:r>
            <a:endParaRPr b="0" i="0" sz="11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scadia Mono"/>
              <a:buNone/>
            </a:pPr>
            <a:r>
              <a:rPr b="0" i="0" lang="es-ES" sz="11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criterios de finalización.</a:t>
            </a:r>
            <a:endParaRPr b="0" i="0" sz="11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g3f9f1056e8f_0_274"/>
          <p:cNvCxnSpPr/>
          <p:nvPr/>
        </p:nvCxnSpPr>
        <p:spPr>
          <a:xfrm>
            <a:off x="6492413" y="2966720"/>
            <a:ext cx="0" cy="23775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g3f9f1056e8f_0_274"/>
          <p:cNvSpPr/>
          <p:nvPr/>
        </p:nvSpPr>
        <p:spPr>
          <a:xfrm>
            <a:off x="6693586" y="2331720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Plantilla mental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f9f1056e8f_0_274"/>
          <p:cNvSpPr/>
          <p:nvPr/>
        </p:nvSpPr>
        <p:spPr>
          <a:xfrm>
            <a:off x="6693586" y="3332480"/>
            <a:ext cx="3886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¿Qué tarea profesional requiere: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Font typeface="Arial"/>
              <a:buNone/>
            </a:pPr>
            <a:r>
              <a:t/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• tomar decisiones?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• usar información?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• verificar algo?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• producir un resultado?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f9f1056e8f_0_274"/>
          <p:cNvSpPr/>
          <p:nvPr/>
        </p:nvSpPr>
        <p:spPr>
          <a:xfrm>
            <a:off x="6721019" y="4617720"/>
            <a:ext cx="3108900" cy="7131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0150">
            <a:solidFill>
              <a:srgbClr val="CAD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Cascadia Mono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/skills reload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Cascadia Mono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Cascadia Mono"/>
                <a:ea typeface="Cascadia Mono"/>
                <a:cs typeface="Cascadia Mono"/>
                <a:sym typeface="Cascadia Mono"/>
              </a:rPr>
              <a:t>/skills list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f9f1056e8f_0_274"/>
          <p:cNvSpPr/>
          <p:nvPr/>
        </p:nvSpPr>
        <p:spPr>
          <a:xfrm>
            <a:off x="731540" y="6217920"/>
            <a:ext cx="841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920"/>
              <a:buFont typeface="Arial"/>
              <a:buNone/>
            </a:pPr>
            <a:r>
              <a:rPr b="0" i="0" lang="es-ES" sz="92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El cambio clave: diseñar comportamiento, no solo escribir un prompt largo.</a:t>
            </a:r>
            <a:endParaRPr b="0" i="0" sz="92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f9f1056e8f_0_274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ucv/ppt/media/image3.jpg" id="359" name="Google Shape;359;g3f9f1056e8f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f9f1056e8f_0_288"/>
          <p:cNvSpPr/>
          <p:nvPr/>
        </p:nvSpPr>
        <p:spPr>
          <a:xfrm>
            <a:off x="685818" y="1805432"/>
            <a:ext cx="77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800"/>
              <a:buFont typeface="Arial"/>
              <a:buNone/>
            </a:pPr>
            <a:r>
              <a:rPr b="1" i="0" lang="es-ES" sz="24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Prueba adversarial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f9f1056e8f_0_288"/>
          <p:cNvSpPr/>
          <p:nvPr/>
        </p:nvSpPr>
        <p:spPr>
          <a:xfrm>
            <a:off x="704107" y="2354072"/>
            <a:ext cx="78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785"/>
              </a:buClr>
              <a:buSzPts val="1280"/>
              <a:buFont typeface="Arial"/>
              <a:buNone/>
            </a:pPr>
            <a:r>
              <a:rPr b="0" i="0" lang="es-ES" sz="1280" u="none" cap="none" strike="noStrike">
                <a:solidFill>
                  <a:srgbClr val="6E7785"/>
                </a:solidFill>
                <a:latin typeface="Arial"/>
                <a:ea typeface="Arial"/>
                <a:cs typeface="Arial"/>
                <a:sym typeface="Arial"/>
              </a:rPr>
              <a:t>Un agente no está listo hasta que intentamos romperlo.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g3f9f1056e8f_0_288"/>
          <p:cNvCxnSpPr/>
          <p:nvPr/>
        </p:nvCxnSpPr>
        <p:spPr>
          <a:xfrm>
            <a:off x="868703" y="287528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g3f9f1056e8f_0_288"/>
          <p:cNvSpPr/>
          <p:nvPr/>
        </p:nvSpPr>
        <p:spPr>
          <a:xfrm>
            <a:off x="1069877" y="2875280"/>
            <a:ext cx="301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Ataque 1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f9f1056e8f_0_288"/>
          <p:cNvSpPr/>
          <p:nvPr/>
        </p:nvSpPr>
        <p:spPr>
          <a:xfrm>
            <a:off x="1069877" y="3241040"/>
            <a:ext cx="297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Falta información crítica: ¿pregunta o inventa?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g3f9f1056e8f_0_288"/>
          <p:cNvCxnSpPr/>
          <p:nvPr/>
        </p:nvCxnSpPr>
        <p:spPr>
          <a:xfrm>
            <a:off x="4526401" y="287528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g3f9f1056e8f_0_288"/>
          <p:cNvSpPr/>
          <p:nvPr/>
        </p:nvSpPr>
        <p:spPr>
          <a:xfrm>
            <a:off x="4727574" y="2875280"/>
            <a:ext cx="301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Ataque 2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f9f1056e8f_0_288"/>
          <p:cNvSpPr/>
          <p:nvPr/>
        </p:nvSpPr>
        <p:spPr>
          <a:xfrm>
            <a:off x="4727574" y="3241040"/>
            <a:ext cx="297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Hay datos contradictorios: ¿detecta el conflicto?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g3f9f1056e8f_0_288"/>
          <p:cNvCxnSpPr/>
          <p:nvPr/>
        </p:nvCxnSpPr>
        <p:spPr>
          <a:xfrm>
            <a:off x="8184098" y="2875280"/>
            <a:ext cx="0" cy="9600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g3f9f1056e8f_0_288"/>
          <p:cNvSpPr/>
          <p:nvPr/>
        </p:nvSpPr>
        <p:spPr>
          <a:xfrm>
            <a:off x="8385272" y="2875280"/>
            <a:ext cx="301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Ataque 3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f9f1056e8f_0_288"/>
          <p:cNvSpPr/>
          <p:nvPr/>
        </p:nvSpPr>
        <p:spPr>
          <a:xfrm>
            <a:off x="8385272" y="3241040"/>
            <a:ext cx="297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Una instrucción maliciosa intenta saltarse las reglas.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f9f1056e8f_0_288"/>
          <p:cNvSpPr/>
          <p:nvPr/>
        </p:nvSpPr>
        <p:spPr>
          <a:xfrm>
            <a:off x="1280194" y="4206240"/>
            <a:ext cx="1645800" cy="4755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Diseñar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f9f1056e8f_0_288"/>
          <p:cNvSpPr/>
          <p:nvPr/>
        </p:nvSpPr>
        <p:spPr>
          <a:xfrm>
            <a:off x="3703419" y="4206240"/>
            <a:ext cx="1645800" cy="4755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Probar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f9f1056e8f_0_288"/>
          <p:cNvSpPr/>
          <p:nvPr/>
        </p:nvSpPr>
        <p:spPr>
          <a:xfrm>
            <a:off x="6126643" y="4206240"/>
            <a:ext cx="1645800" cy="4755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Fallar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f9f1056e8f_0_288"/>
          <p:cNvSpPr/>
          <p:nvPr/>
        </p:nvSpPr>
        <p:spPr>
          <a:xfrm>
            <a:off x="8549868" y="4206240"/>
            <a:ext cx="1645800" cy="475500"/>
          </a:xfrm>
          <a:prstGeom prst="roundRect">
            <a:avLst>
              <a:gd fmla="val 16667" name="adj"/>
            </a:avLst>
          </a:prstGeom>
          <a:solidFill>
            <a:srgbClr val="FFF1F1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Corregir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g3f9f1056e8f_0_288"/>
          <p:cNvCxnSpPr/>
          <p:nvPr/>
        </p:nvCxnSpPr>
        <p:spPr>
          <a:xfrm>
            <a:off x="2926158" y="4443984"/>
            <a:ext cx="7773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6" name="Google Shape;376;g3f9f1056e8f_0_288"/>
          <p:cNvCxnSpPr/>
          <p:nvPr/>
        </p:nvCxnSpPr>
        <p:spPr>
          <a:xfrm>
            <a:off x="5349383" y="4443984"/>
            <a:ext cx="7773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g3f9f1056e8f_0_288"/>
          <p:cNvCxnSpPr/>
          <p:nvPr/>
        </p:nvCxnSpPr>
        <p:spPr>
          <a:xfrm>
            <a:off x="7772607" y="4443984"/>
            <a:ext cx="7773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8" name="Google Shape;378;g3f9f1056e8f_0_288"/>
          <p:cNvSpPr/>
          <p:nvPr/>
        </p:nvSpPr>
        <p:spPr>
          <a:xfrm>
            <a:off x="1463079" y="5230368"/>
            <a:ext cx="9144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Diseñar agentes es iterar sobre fallos observables.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9f1056e8f_0_288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emplate_ucv/ppt/media/image3.jpg" id="385" name="Google Shape;385;g3f9f1056e8f_0_3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f9f1056e8f_0_313"/>
          <p:cNvSpPr/>
          <p:nvPr/>
        </p:nvSpPr>
        <p:spPr>
          <a:xfrm>
            <a:off x="685818" y="1887220"/>
            <a:ext cx="77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s-ES" sz="24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Extensión: agentes sobre procesos y diseño</a:t>
            </a:r>
            <a:endParaRPr b="0" i="0" sz="240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f9f1056e8f_0_313"/>
          <p:cNvSpPr/>
          <p:nvPr/>
        </p:nvSpPr>
        <p:spPr>
          <a:xfrm>
            <a:off x="704107" y="2399284"/>
            <a:ext cx="78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La misma arquitectura puede actuar sobre sistemas reales.</a:t>
            </a:r>
            <a:endParaRPr b="0" i="0" sz="105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f9f1056e8f_0_313"/>
          <p:cNvSpPr/>
          <p:nvPr/>
        </p:nvSpPr>
        <p:spPr>
          <a:xfrm>
            <a:off x="11155977" y="6327648"/>
            <a:ext cx="50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f9f1056e8f_0_313"/>
          <p:cNvSpPr/>
          <p:nvPr/>
        </p:nvSpPr>
        <p:spPr>
          <a:xfrm>
            <a:off x="914424" y="3167380"/>
            <a:ext cx="1234500" cy="475500"/>
          </a:xfrm>
          <a:prstGeom prst="roundRect">
            <a:avLst>
              <a:gd fmla="val 16667" name="adj"/>
            </a:avLst>
          </a:prstGeom>
          <a:solidFill>
            <a:srgbClr val="1CCD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n8n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f9f1056e8f_0_313"/>
          <p:cNvSpPr/>
          <p:nvPr/>
        </p:nvSpPr>
        <p:spPr>
          <a:xfrm>
            <a:off x="2606109" y="3167380"/>
            <a:ext cx="1508700" cy="475500"/>
          </a:xfrm>
          <a:prstGeom prst="roundRect">
            <a:avLst>
              <a:gd fmla="val 16667" name="adj"/>
            </a:avLst>
          </a:prstGeom>
          <a:solidFill>
            <a:srgbClr val="ED1C24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9f1056e8f_0_313"/>
          <p:cNvSpPr/>
          <p:nvPr/>
        </p:nvSpPr>
        <p:spPr>
          <a:xfrm>
            <a:off x="4572122" y="3167380"/>
            <a:ext cx="1508700" cy="475500"/>
          </a:xfrm>
          <a:prstGeom prst="roundRect">
            <a:avLst>
              <a:gd fmla="val 16667" name="adj"/>
            </a:avLst>
          </a:prstGeom>
          <a:solidFill>
            <a:srgbClr val="0072BC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g3f9f1056e8f_0_313"/>
          <p:cNvCxnSpPr/>
          <p:nvPr/>
        </p:nvCxnSpPr>
        <p:spPr>
          <a:xfrm>
            <a:off x="2148897" y="3405124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g3f9f1056e8f_0_313"/>
          <p:cNvCxnSpPr/>
          <p:nvPr/>
        </p:nvCxnSpPr>
        <p:spPr>
          <a:xfrm>
            <a:off x="4114910" y="3405124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g3f9f1056e8f_0_313"/>
          <p:cNvSpPr/>
          <p:nvPr/>
        </p:nvSpPr>
        <p:spPr>
          <a:xfrm>
            <a:off x="914424" y="4859020"/>
            <a:ext cx="2148900" cy="475500"/>
          </a:xfrm>
          <a:prstGeom prst="roundRect">
            <a:avLst>
              <a:gd fmla="val 16667" name="adj"/>
            </a:avLst>
          </a:prstGeom>
          <a:solidFill>
            <a:srgbClr val="1CCD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OpenCode / Codex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9f1056e8f_0_313"/>
          <p:cNvSpPr/>
          <p:nvPr/>
        </p:nvSpPr>
        <p:spPr>
          <a:xfrm>
            <a:off x="3657698" y="4859020"/>
            <a:ext cx="1417200" cy="475500"/>
          </a:xfrm>
          <a:prstGeom prst="roundRect">
            <a:avLst>
              <a:gd fmla="val 16667" name="adj"/>
            </a:avLst>
          </a:prstGeom>
          <a:solidFill>
            <a:srgbClr val="ED1C24"/>
          </a:solidFill>
          <a:ln cap="flat" cmpd="sng" w="1905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CAD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f9f1056e8f_0_313"/>
          <p:cNvSpPr/>
          <p:nvPr/>
        </p:nvSpPr>
        <p:spPr>
          <a:xfrm>
            <a:off x="5577989" y="4859020"/>
            <a:ext cx="2057400" cy="475500"/>
          </a:xfrm>
          <a:prstGeom prst="roundRect">
            <a:avLst>
              <a:gd fmla="val 16667" name="adj"/>
            </a:avLst>
          </a:prstGeom>
          <a:solidFill>
            <a:srgbClr val="0072BC"/>
          </a:solidFill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Rhino / Blender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f9f1056e8f_0_313"/>
          <p:cNvSpPr/>
          <p:nvPr/>
        </p:nvSpPr>
        <p:spPr>
          <a:xfrm>
            <a:off x="8138377" y="4859020"/>
            <a:ext cx="1600200" cy="4755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B5C"/>
              </a:buClr>
              <a:buSzPts val="1050"/>
              <a:buFont typeface="Arial"/>
              <a:buNone/>
            </a:pPr>
            <a:r>
              <a:rPr b="1" i="0" lang="es-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objeto 3D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g3f9f1056e8f_0_313"/>
          <p:cNvCxnSpPr/>
          <p:nvPr/>
        </p:nvCxnSpPr>
        <p:spPr>
          <a:xfrm>
            <a:off x="3063322" y="5096764"/>
            <a:ext cx="5943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9" name="Google Shape;399;g3f9f1056e8f_0_313"/>
          <p:cNvCxnSpPr/>
          <p:nvPr/>
        </p:nvCxnSpPr>
        <p:spPr>
          <a:xfrm>
            <a:off x="5075055" y="5096764"/>
            <a:ext cx="5028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0" name="Google Shape;400;g3f9f1056e8f_0_313"/>
          <p:cNvCxnSpPr/>
          <p:nvPr/>
        </p:nvCxnSpPr>
        <p:spPr>
          <a:xfrm>
            <a:off x="7635444" y="5096764"/>
            <a:ext cx="502800" cy="0"/>
          </a:xfrm>
          <a:prstGeom prst="straightConnector1">
            <a:avLst/>
          </a:prstGeom>
          <a:noFill/>
          <a:ln cap="flat" cmpd="sng" w="25400">
            <a:solidFill>
              <a:srgbClr val="243B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1" name="Google Shape;401;g3f9f1056e8f_0_313"/>
          <p:cNvCxnSpPr/>
          <p:nvPr/>
        </p:nvCxnSpPr>
        <p:spPr>
          <a:xfrm>
            <a:off x="8504147" y="2893060"/>
            <a:ext cx="0" cy="1463100"/>
          </a:xfrm>
          <a:prstGeom prst="straightConnector1">
            <a:avLst/>
          </a:prstGeom>
          <a:noFill/>
          <a:ln cap="flat" cmpd="sng" w="508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g3f9f1056e8f_0_313"/>
          <p:cNvSpPr/>
          <p:nvPr/>
        </p:nvSpPr>
        <p:spPr>
          <a:xfrm>
            <a:off x="8705320" y="2893060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Arial"/>
              <a:buNone/>
            </a:pPr>
            <a:r>
              <a:rPr b="1" i="0" lang="es-ES" sz="12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 pedagógica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9f1056e8f_0_313"/>
          <p:cNvSpPr/>
          <p:nvPr/>
        </p:nvSpPr>
        <p:spPr>
          <a:xfrm>
            <a:off x="8705320" y="3258820"/>
            <a:ext cx="25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El modelo puede cambiar. El entorno puede cambiar.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5F0"/>
              </a:buClr>
              <a:buSzPts val="1130"/>
              <a:buFont typeface="Arial"/>
              <a:buNone/>
            </a:pPr>
            <a:r>
              <a:rPr b="0" i="0" lang="es-ES" sz="1130" u="none" cap="none" strike="noStrike">
                <a:solidFill>
                  <a:srgbClr val="243B5C"/>
                </a:solidFill>
                <a:latin typeface="Arial"/>
                <a:ea typeface="Arial"/>
                <a:cs typeface="Arial"/>
                <a:sym typeface="Arial"/>
              </a:rPr>
              <a:t>La arquitectura agentiva se conserva.</a:t>
            </a:r>
            <a:endParaRPr b="0" i="0" sz="1130" u="none" cap="none" strike="noStrike">
              <a:solidFill>
                <a:srgbClr val="243B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9f1056e8f_0_313"/>
          <p:cNvSpPr txBox="1"/>
          <p:nvPr/>
        </p:nvSpPr>
        <p:spPr>
          <a:xfrm>
            <a:off x="9331400" y="313933"/>
            <a:ext cx="2312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Centro de informática y sistemas</a:t>
            </a:r>
            <a:endParaRPr b="0" i="0" sz="1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gbdf00b619a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